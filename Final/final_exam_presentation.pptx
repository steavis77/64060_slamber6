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Elbow method (conceptual)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WSS</c:v>
                </c:pt>
              </c:strCache>
            </c:strRef>
          </c:tx>
          <c:spPr>
            <a:ln w="27940" cap="flat">
              <a:solidFill>
                <a:srgbClr val="1E8C8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C8C"/>
              </a:solidFill>
              <a:ln w="9525" cap="flat">
                <a:solidFill>
                  <a:srgbClr val="1E8C8C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65</c:v>
                </c:pt>
                <c:pt idx="2">
                  <c:v>43</c:v>
                </c:pt>
                <c:pt idx="3">
                  <c:v>36</c:v>
                </c:pt>
                <c:pt idx="4">
                  <c:v>32</c:v>
                </c:pt>
                <c:pt idx="5">
                  <c:v>29</c:v>
                </c:pt>
                <c:pt idx="6">
                  <c:v>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323-3C4F-B9C6-16B47DF990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Silhouette method (conceptual)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</c:v>
                </c:pt>
              </c:strCache>
            </c:strRef>
          </c:tx>
          <c:spPr>
            <a:ln w="27940" cap="flat">
              <a:solidFill>
                <a:srgbClr val="D89B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89B2B"/>
              </a:solidFill>
              <a:ln w="9525" cap="flat">
                <a:solidFill>
                  <a:srgbClr val="D89B2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</c:v>
                </c:pt>
                <c:pt idx="1">
                  <c:v>0.34</c:v>
                </c:pt>
                <c:pt idx="2">
                  <c:v>0.39</c:v>
                </c:pt>
                <c:pt idx="3">
                  <c:v>0.37</c:v>
                </c:pt>
                <c:pt idx="4">
                  <c:v>0.34</c:v>
                </c:pt>
                <c:pt idx="5">
                  <c:v>0.32</c:v>
                </c:pt>
                <c:pt idx="6">
                  <c:v>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1E-6341-98DC-4A75CBD0C8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12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64808"/>
            <a:ext cx="1124712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373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 64060 Final Exam | Fuel Receipt Segmentation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73B57"/>
          </a:solidFill>
          <a:ln w="12700">
            <a:solidFill>
              <a:srgbClr val="173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1E8C8C"/>
          </a:solidFill>
          <a:ln w="12700">
            <a:solidFill>
              <a:srgbClr val="1E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Fuel Receipt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Segmentation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D7EBF2"/>
                </a:solidFill>
              </a:rPr>
              <a:t>Understanding U.S. power generation fuel purchasing patterns with clustering and regression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66928" y="532180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MIS 64060 Final Exam</a:t>
            </a:r>
            <a:endParaRPr lang="en-US" sz="1100" dirty="0"/>
          </a:p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</a:rPr>
              <a:t>Steve Lambert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B57"/>
                </a:solidFill>
              </a:rPr>
              <a:t>PUDL EIA-923 Schedule 2, Part 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773168" y="1700784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</a:rPr>
              <a:t>Monthly fuel deliveries to power plants, aggregated by plant, fuel type, and report month.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00600" y="2743200"/>
            <a:ext cx="1188720" cy="329184"/>
          </a:xfrm>
          <a:prstGeom prst="roundRect">
            <a:avLst>
              <a:gd name="adj" fmla="val 22222"/>
            </a:avLst>
          </a:prstGeom>
          <a:solidFill>
            <a:srgbClr val="1E8C8C">
              <a:alpha val="92000"/>
            </a:srgbClr>
          </a:solidFill>
          <a:ln w="12700">
            <a:solidFill>
              <a:srgbClr val="1E8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28117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2% sample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172200" y="2743200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D89B2B">
              <a:alpha val="92000"/>
            </a:srgbClr>
          </a:solidFill>
          <a:ln w="12700">
            <a:solidFill>
              <a:srgbClr val="D89B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63640" y="281178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seed 5067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635240" y="2743200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2D7D46">
              <a:alpha val="92000"/>
            </a:srgbClr>
          </a:solidFill>
          <a:ln w="12700">
            <a:solidFill>
              <a:srgbClr val="2D7D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26680" y="281178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75/25 split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91456" y="370332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B57"/>
                </a:solidFill>
              </a:rPr>
              <a:t>Primary method: k-means clustering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73B57"/>
                </a:solidFill>
              </a:rPr>
              <a:t>Extra credit: regression with cluster membership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takeaways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The purpose is not only prediction. It is better segmentation for management decisions.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B57"/>
                </a:solidFill>
              </a:rPr>
              <a:t>Fuel receipts are not one market.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58952" y="2057400"/>
            <a:ext cx="50749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Segment fuel purchases by receipt scale and heat content.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Use cluster profiles to reveal cost exposure by fuel type, state, and source.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Use test-set regression to check whether clusters improve cost prediction.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Treat high-cost or specialty fuel segments as procurement risk signals.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766560" y="1508760"/>
            <a:ext cx="3017520" cy="3017520"/>
          </a:xfrm>
          <a:prstGeom prst="arc">
            <a:avLst/>
          </a:prstGeom>
          <a:solidFill>
            <a:srgbClr val="D7EBF2">
              <a:alpha val="80000"/>
            </a:srgbClr>
          </a:solidFill>
          <a:ln w="12700">
            <a:solidFill>
              <a:srgbClr val="D7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40880" y="205740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3B57"/>
                </a:solidFill>
              </a:rPr>
              <a:t>Four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73B57"/>
                </a:solidFill>
              </a:rPr>
              <a:t>management-ready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73B57"/>
                </a:solidFill>
              </a:rPr>
              <a:t>segments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92240" y="489204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0" dirty="0">
                <a:solidFill>
                  <a:srgbClr val="4A5568"/>
                </a:solidFill>
              </a:rPr>
              <a:t>Cluster membership becomes a business lens: procurement scale, heat content, routine vs. specialty activity, and cost exposure.</a:t>
            </a:r>
            <a:endParaRPr lang="en-US" sz="13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and cleaning plan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PUDL makes the raw EIA-923 fuel receipts data easier to use, but missingness still matters.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1280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C8C"/>
                </a:solidFill>
              </a:rPr>
              <a:t>Source table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B57"/>
                </a:solidFill>
              </a:rPr>
              <a:t>out_eia923__monthly_fuel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73B57"/>
                </a:solidFill>
              </a:rPr>
              <a:t>_receipts_costs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76656" y="239572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4A5568"/>
                </a:solidFill>
              </a:rPr>
              <a:t>Monthly time series of fuel deliveries to power plants, by plant, fuel type, and reporting month.</a:t>
            </a:r>
            <a:endParaRPr lang="en-US" sz="1320" dirty="0"/>
          </a:p>
        </p:txBody>
      </p:sp>
      <p:sp>
        <p:nvSpPr>
          <p:cNvPr id="7" name="Shape 5"/>
          <p:cNvSpPr/>
          <p:nvPr/>
        </p:nvSpPr>
        <p:spPr>
          <a:xfrm>
            <a:off x="6080760" y="1234440"/>
            <a:ext cx="0" cy="4297680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280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B57"/>
                </a:solidFill>
              </a:rPr>
              <a:t>Cleaning choices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20240"/>
            <a:ext cx="438912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Remove variables with &gt;30% missingness.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Convert dates, categorical fields, and numeric measures correctly.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Log-transform skewed receipt quantities.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Scale clustering variables before k-means.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94360" y="6199632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7280"/>
                </a:solidFill>
              </a:rPr>
              <a:t>The R Markdown file downloads the Parquet table and prints the missingness table before modeling.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workflow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The analysis is built to be reproducible and defensible.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EEF7FA"/>
          </a:solidFill>
          <a:ln w="12700">
            <a:solidFill>
              <a:srgbClr val="D7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709928"/>
            <a:ext cx="530352" cy="530352"/>
          </a:xfrm>
          <a:prstGeom prst="ellipse">
            <a:avLst/>
          </a:prstGeom>
          <a:solidFill>
            <a:srgbClr val="1E8C8C"/>
          </a:solidFill>
          <a:ln w="12700">
            <a:solidFill>
              <a:srgbClr val="1E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83794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99616" y="16459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Load PUDL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499616" y="20756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Read public Parquet table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EEF7FA"/>
          </a:solidFill>
          <a:ln w="12700">
            <a:solidFill>
              <a:srgbClr val="D7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26280" y="1709928"/>
            <a:ext cx="530352" cy="530352"/>
          </a:xfrm>
          <a:prstGeom prst="ellipse">
            <a:avLst/>
          </a:prstGeom>
          <a:solidFill>
            <a:srgbClr val="1E8C8C"/>
          </a:solidFill>
          <a:ln w="12700">
            <a:solidFill>
              <a:srgbClr val="1E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90872" y="183794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02936" y="16459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Clean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202936" y="20756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Drop high-missing fields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65008" y="141732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EEF7FA"/>
          </a:solidFill>
          <a:ln w="12700">
            <a:solidFill>
              <a:srgbClr val="D7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0" y="1709928"/>
            <a:ext cx="530352" cy="530352"/>
          </a:xfrm>
          <a:prstGeom prst="ellipse">
            <a:avLst/>
          </a:prstGeom>
          <a:solidFill>
            <a:srgbClr val="1E8C8C"/>
          </a:solidFill>
          <a:ln w="12700">
            <a:solidFill>
              <a:srgbClr val="1E8C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94192" y="183794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06256" y="16459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Sample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906256" y="20756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2% sample, seed 5067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38328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FDF8ED"/>
          </a:solidFill>
          <a:ln w="12700">
            <a:solidFill>
              <a:srgbClr val="F2DB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" y="3675888"/>
            <a:ext cx="530352" cy="530352"/>
          </a:xfrm>
          <a:prstGeom prst="ellipse">
            <a:avLst/>
          </a:prstGeom>
          <a:solidFill>
            <a:srgbClr val="D89B2B"/>
          </a:solidFill>
          <a:ln w="12700">
            <a:solidFill>
              <a:srgbClr val="D89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87552" y="380390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99616" y="36118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Cluster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499616" y="40416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k-means on scaled features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61688" y="338328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FDF8ED"/>
          </a:solidFill>
          <a:ln w="12700">
            <a:solidFill>
              <a:srgbClr val="F2DB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26280" y="3675888"/>
            <a:ext cx="530352" cy="530352"/>
          </a:xfrm>
          <a:prstGeom prst="ellipse">
            <a:avLst/>
          </a:prstGeom>
          <a:solidFill>
            <a:srgbClr val="D89B2B"/>
          </a:solidFill>
          <a:ln w="12700">
            <a:solidFill>
              <a:srgbClr val="D89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90872" y="380390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02936" y="36118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Profile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202936" y="40416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Describe clusters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65008" y="3383280"/>
            <a:ext cx="2971800" cy="1298448"/>
          </a:xfrm>
          <a:prstGeom prst="roundRect">
            <a:avLst>
              <a:gd name="adj" fmla="val 7042"/>
            </a:avLst>
          </a:prstGeom>
          <a:solidFill>
            <a:srgbClr val="FDF8ED"/>
          </a:solidFill>
          <a:ln w="12700">
            <a:solidFill>
              <a:srgbClr val="F2DB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229600" y="3675888"/>
            <a:ext cx="530352" cy="530352"/>
          </a:xfrm>
          <a:prstGeom prst="ellipse">
            <a:avLst/>
          </a:prstGeom>
          <a:solidFill>
            <a:srgbClr val="D89B2B"/>
          </a:solidFill>
          <a:ln w="12700">
            <a:solidFill>
              <a:srgbClr val="D89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394192" y="380390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906256" y="36118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73B57"/>
                </a:solidFill>
              </a:rPr>
              <a:t>Predict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906256" y="40416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Regression test-set check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5800" y="5532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C8C"/>
                </a:solidFill>
              </a:rPr>
              <a:t>Management question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80360" y="5522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</a:rPr>
              <a:t>Which fuel receipt segments explain cost exposure and can they improve prediction of fuel_cost_per_mmbtu?</a:t>
            </a:r>
            <a:endParaRPr lang="en-US" sz="12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Choosing 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The number of clusters is selected using elbow/silhouette diagnostics plus interpretability.</a:t>
            </a:r>
            <a:endParaRPr lang="en-US" sz="10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31520" y="1554480"/>
          <a:ext cx="475488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263640" y="1554480"/>
          <a:ext cx="475488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777240" y="51389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B57"/>
                </a:solidFill>
              </a:rPr>
              <a:t>Selected solution: 4 clusters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804672" y="560527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568"/>
                </a:solidFill>
              </a:rPr>
              <a:t>The Rmd computes the actual elbow and silhouette values on the sampled training set. Four clusters are used for a readable management segmentation.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Segmentation logic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Clusters are built from operational receipt features, then profiled by cost and context.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C8C"/>
                </a:solidFill>
              </a:rPr>
              <a:t>Used to form clusters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828800"/>
            <a:ext cx="3749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log fuel received units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fuel MMBtu per unit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log fuel received MMBtu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9224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89B2B"/>
                </a:solidFill>
              </a:rPr>
              <a:t>Reserved for profiling/prediction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1828800"/>
            <a:ext cx="416052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fuel cost per MMBtu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total fuel cost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fuel type, state, cost source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57800" y="2176272"/>
            <a:ext cx="1280160" cy="502920"/>
          </a:xfrm>
          <a:prstGeom prst="rightArrow">
            <a:avLst/>
          </a:prstGeom>
          <a:solidFill>
            <a:srgbClr val="D7EBF2"/>
          </a:solidFill>
          <a:ln w="12700">
            <a:solidFill>
              <a:srgbClr val="D7EB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B57"/>
                </a:solidFill>
              </a:rPr>
              <a:t>Why this matters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Avoiding fuel_cost_per_mmbtu in the clustering variables keeps the extra-credit regression from becoming circular. Costs are used after clustering to interpret whether segments carry different cost exposure.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Management-ready cluster labels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The exact cluster profiles are generated by the R Markdown after the PUDL sample is drawn.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10835640" cy="438912"/>
          </a:xfrm>
          <a:prstGeom prst="rect">
            <a:avLst/>
          </a:prstGeom>
          <a:solidFill>
            <a:srgbClr val="173B57"/>
          </a:solidFill>
          <a:ln w="12700">
            <a:solidFill>
              <a:srgbClr val="173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52704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Segment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429000" y="15270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Business meaning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0" y="1527048"/>
            <a:ext cx="3611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Management 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1901952"/>
            <a:ext cx="10835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73B57"/>
                </a:solidFill>
              </a:rPr>
              <a:t>Large-volume thermal receipts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3429000" y="201168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High delivery scale and bulk heat input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0" y="20116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Monitor supply reliability and contract concentration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58368" y="2596896"/>
            <a:ext cx="10835640" cy="594360"/>
          </a:xfrm>
          <a:prstGeom prst="rect">
            <a:avLst/>
          </a:prstGeom>
          <a:solidFill>
            <a:srgbClr val="F3F7FA"/>
          </a:solidFill>
          <a:ln w="635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" y="27249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73B57"/>
                </a:solidFill>
              </a:rPr>
              <a:t>Low-cost routine receipts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429000" y="270662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Standard lower-cost procurement patterns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7315200" y="270662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Benchmark normal operating conditions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658368" y="3291840"/>
            <a:ext cx="10835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1248" y="34198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73B57"/>
                </a:solidFill>
              </a:rPr>
              <a:t>High-heat-content receipts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3429000" y="340156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Higher energy per physical unit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7315200" y="340156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Review fuel quality and efficiency implications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58368" y="3986784"/>
            <a:ext cx="10835640" cy="594360"/>
          </a:xfrm>
          <a:prstGeom prst="rect">
            <a:avLst/>
          </a:prstGeom>
          <a:solidFill>
            <a:srgbClr val="F3F7FA"/>
          </a:solidFill>
          <a:ln w="635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1248" y="41148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73B57"/>
                </a:solidFill>
              </a:rPr>
              <a:t>High-cost specialty or peaking receipts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3429000" y="409651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Higher cost exposure or specialized activity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7315200" y="409651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4A5568"/>
                </a:solidFill>
              </a:rPr>
              <a:t>Target for risk review and cost controls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749808" y="5074920"/>
            <a:ext cx="10378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</a:rPr>
              <a:t>R Markdown output to update: cluster sizes, median fuel cost, top fuel type, top state, and top source.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Translate clusters into management action.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566928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Separate routine fuel buying from high-cost or specialty fuel activity.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Review high-cost segments first for procurement and price-volatility risk.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Use large-volume clusters to monitor supply reliability and contract concentration.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</a:rPr>
              <a:t>Track segment movement over time as fuel markets and plant operations change.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995160" y="1417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B57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040880" y="1938528"/>
            <a:ext cx="42062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Some PUDL values are estimated or redacted.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Delivery timing is not the same as consumption timing.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4A5568"/>
                </a:solidFill>
              </a:rPr>
              <a:t>The model is exploratory and based on a 2% sample.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5349240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B57"/>
                </a:solidFill>
              </a:rPr>
              <a:t>Bottom line: segmentation gives a clearer operating lens for U.S. fuel procurement and can be tested as a predictor of fuel cost.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37381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715</Words>
  <Application>Microsoft Macintosh PowerPoint</Application>
  <PresentationFormat>Widescreen</PresentationFormat>
  <Paragraphs>120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Kent State University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Receipt Segmentation and Cost Prediction</dc:title>
  <dc:subject>MIS 64060 Final Exam</dc:subject>
  <dc:creator>Steve Lambert</dc:creator>
  <cp:keywords/>
  <dc:description/>
  <cp:lastModifiedBy>Steve Lambert</cp:lastModifiedBy>
  <cp:revision>3</cp:revision>
  <dcterms:created xsi:type="dcterms:W3CDTF">2026-06-19T13:47:30Z</dcterms:created>
  <dcterms:modified xsi:type="dcterms:W3CDTF">2026-06-19T14:12:07Z</dcterms:modified>
  <cp:category/>
</cp:coreProperties>
</file>