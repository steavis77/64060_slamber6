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Elbow method (conceptual)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WSS</c:v>
                </c:pt>
              </c:strCache>
            </c:strRef>
          </c:tx>
          <c:spPr>
            <a:solidFill>
              <a:srgbClr val="1E8C8C"/>
            </a:solidFill>
            <a:ln w="27940" cap="flat">
              <a:solidFill>
                <a:srgbClr val="1E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C8C"/>
              </a:solidFill>
              <a:ln w="9525" cap="flat">
                <a:solidFill>
                  <a:srgbClr val="1E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65</c:v>
                </c:pt>
                <c:pt idx="2">
                  <c:v>43</c:v>
                </c:pt>
                <c:pt idx="3">
                  <c:v>36</c:v>
                </c:pt>
                <c:pt idx="4">
                  <c:v>32</c:v>
                </c:pt>
                <c:pt idx="5">
                  <c:v>29</c:v>
                </c:pt>
                <c:pt idx="6">
                  <c:v>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Silhouette method (conceptual)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D89B2B"/>
            </a:solidFill>
            <a:ln w="27940" cap="flat">
              <a:solidFill>
                <a:srgbClr val="D89B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89B2B"/>
              </a:solidFill>
              <a:ln w="9525" cap="flat">
                <a:solidFill>
                  <a:srgbClr val="D89B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</c:v>
                </c:pt>
                <c:pt idx="1">
                  <c:v>0.34</c:v>
                </c:pt>
                <c:pt idx="2">
                  <c:v>0.39</c:v>
                </c:pt>
                <c:pt idx="3">
                  <c:v>0.37</c:v>
                </c:pt>
                <c:pt idx="4">
                  <c:v>0.34</c:v>
                </c:pt>
                <c:pt idx="5">
                  <c:v>0.32</c:v>
                </c:pt>
                <c:pt idx="6">
                  <c:v>0.31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64808"/>
            <a:ext cx="112471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 64060 Final Exam | Fuel Receipt Segmentation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1E8C8C"/>
          </a:solidFill>
          <a:ln w="12700">
            <a:solidFill>
              <a:srgbClr val="1E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Fuel Receipt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7EBF2"/>
                </a:solidFill>
              </a:rPr>
              <a:t>Understanding U.S. power generation fuel purchasing patterns with clustering and regression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5321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MIS 64060 Final Exam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Steve Lamber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B57"/>
                </a:solidFill>
              </a:rPr>
              <a:t>PUDL EIA-923 Schedule 2, Part 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73168" y="17007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Monthly fuel deliveries to power plants, aggregated by plant, fuel type, and report month.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27432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E8C8C">
              <a:alpha val="92000"/>
            </a:srgbClr>
          </a:solidFill>
          <a:ln w="12700">
            <a:solidFill>
              <a:srgbClr val="1E8C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8117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2% sample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72200" y="274320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D89B2B">
              <a:alpha val="92000"/>
            </a:srgbClr>
          </a:solidFill>
          <a:ln w="12700">
            <a:solidFill>
              <a:srgbClr val="D89B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8117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seed 5067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35240" y="27432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D7D46">
              <a:alpha val="92000"/>
            </a:srgbClr>
          </a:solidFill>
          <a:ln w="12700">
            <a:solidFill>
              <a:srgbClr val="2D7D4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28117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75/25 split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91456" y="3703320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B57"/>
                </a:solidFill>
              </a:rPr>
              <a:t>Primary method: k-means clustering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3B57"/>
                </a:solidFill>
              </a:rPr>
              <a:t>Extra credit: regression with cluster membership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The purpose is not only prediction. It is better segmentation for management decisions.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57"/>
                </a:solidFill>
              </a:rPr>
              <a:t>Fuel receipts are not one market.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58952" y="2057400"/>
            <a:ext cx="50749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Segment fuel purchases by receipt scale and heat content.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Use cluster profiles to reveal cost exposure by fuel type, state, and source.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Use test-set regression to check whether clusters improve cost prediction.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Treat high-cost or specialty fuel segments as procurement risk signals.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0" y="1508760"/>
            <a:ext cx="3017520" cy="3017520"/>
          </a:xfrm>
          <a:prstGeom prst="arc">
            <a:avLst/>
          </a:prstGeom>
          <a:solidFill>
            <a:srgbClr val="D7EBF2">
              <a:alpha val="80000"/>
            </a:srgbClr>
          </a:solidFill>
          <a:ln w="12700">
            <a:solidFill>
              <a:srgbClr val="D7E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5740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7"/>
                </a:solidFill>
              </a:rPr>
              <a:t>Four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B57"/>
                </a:solidFill>
              </a:rPr>
              <a:t>management-ready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B57"/>
                </a:solidFill>
              </a:rPr>
              <a:t>segments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92240" y="48920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dirty="0">
                <a:solidFill>
                  <a:srgbClr val="4A5568"/>
                </a:solidFill>
              </a:rPr>
              <a:t>Cluster membership becomes a business lens: procurement scale, heat content, routine vs. specialty activity, and cost exposure.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cleaning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PUDL makes the raw EIA-923 fuel receipts data easier to use, but missingness still matters.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8C"/>
                </a:solidFill>
              </a:rPr>
              <a:t>Source table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57"/>
                </a:solidFill>
              </a:rPr>
              <a:t>out_eia923__monthly_fuel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73B57"/>
                </a:solidFill>
              </a:rPr>
              <a:t>_receipts_costs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239572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A5568"/>
                </a:solidFill>
              </a:rPr>
              <a:t>Monthly time series of fuel deliveries to power plants, by plant, fuel type, and reporting month.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0" cy="429768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280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57"/>
                </a:solidFill>
              </a:rPr>
              <a:t>Cleaning choices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43891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</a:rPr>
              <a:t>Remove variables with &gt;30% missingness.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</a:rPr>
              <a:t>Convert dates, categorical fields, and numeric measures correctly.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</a:rPr>
              <a:t>Log-transform skewed receipt quantities.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</a:rPr>
              <a:t>Scale clustering variables before k-means.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61996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The R Markdown file downloads the Parquet table and prints the missingness table before modeling.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The analysis is built to be reproducible and defensible.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EEF7FA"/>
          </a:solidFill>
          <a:ln w="12700">
            <a:solidFill>
              <a:srgbClr val="D7EB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09928"/>
            <a:ext cx="530352" cy="530352"/>
          </a:xfrm>
          <a:prstGeom prst="ellipse">
            <a:avLst/>
          </a:prstGeom>
          <a:solidFill>
            <a:srgbClr val="1E8C8C"/>
          </a:solidFill>
          <a:ln w="12700">
            <a:solidFill>
              <a:srgbClr val="1E8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379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99616" y="16459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B57"/>
                </a:solidFill>
              </a:rPr>
              <a:t>Load PUDL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99616" y="2075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Read public Parquet table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EEF7FA"/>
          </a:solidFill>
          <a:ln w="12700">
            <a:solidFill>
              <a:srgbClr val="D7EB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709928"/>
            <a:ext cx="530352" cy="530352"/>
          </a:xfrm>
          <a:prstGeom prst="ellipse">
            <a:avLst/>
          </a:prstGeom>
          <a:solidFill>
            <a:srgbClr val="1E8C8C"/>
          </a:solidFill>
          <a:ln w="12700">
            <a:solidFill>
              <a:srgbClr val="1E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8379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02936" y="16459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B57"/>
                </a:solidFill>
              </a:rPr>
              <a:t>Clean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02936" y="2075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Drop high-missing fields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41732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EEF7FA"/>
          </a:solidFill>
          <a:ln w="12700">
            <a:solidFill>
              <a:srgbClr val="D7EB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09928"/>
            <a:ext cx="530352" cy="530352"/>
          </a:xfrm>
          <a:prstGeom prst="ellipse">
            <a:avLst/>
          </a:prstGeom>
          <a:solidFill>
            <a:srgbClr val="1E8C8C"/>
          </a:solidFill>
          <a:ln w="12700">
            <a:solidFill>
              <a:srgbClr val="1E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8379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06256" y="16459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B57"/>
                </a:solidFill>
              </a:rPr>
              <a:t>Sample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906256" y="2075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2% sample, seed 5067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3832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DF8ED"/>
          </a:solidFill>
          <a:ln w="12700">
            <a:solidFill>
              <a:srgbClr val="F2DB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675888"/>
            <a:ext cx="530352" cy="530352"/>
          </a:xfrm>
          <a:prstGeom prst="ellipse">
            <a:avLst/>
          </a:prstGeom>
          <a:solidFill>
            <a:srgbClr val="D89B2B"/>
          </a:solidFill>
          <a:ln w="12700">
            <a:solidFill>
              <a:srgbClr val="D89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039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99616" y="3611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B57"/>
                </a:solidFill>
              </a:rPr>
              <a:t>Cluster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99616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k-means on scaled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1688" y="33832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DF8ED"/>
          </a:solidFill>
          <a:ln w="12700">
            <a:solidFill>
              <a:srgbClr val="F2DB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675888"/>
            <a:ext cx="530352" cy="530352"/>
          </a:xfrm>
          <a:prstGeom prst="ellipse">
            <a:avLst/>
          </a:prstGeom>
          <a:solidFill>
            <a:srgbClr val="D89B2B"/>
          </a:solidFill>
          <a:ln w="12700">
            <a:solidFill>
              <a:srgbClr val="D89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8039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02936" y="3611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B57"/>
                </a:solidFill>
              </a:rPr>
              <a:t>Profile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202936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Describe clusters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5008" y="33832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DF8ED"/>
          </a:solidFill>
          <a:ln w="12700">
            <a:solidFill>
              <a:srgbClr val="F2DB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675888"/>
            <a:ext cx="530352" cy="530352"/>
          </a:xfrm>
          <a:prstGeom prst="ellipse">
            <a:avLst/>
          </a:prstGeom>
          <a:solidFill>
            <a:srgbClr val="D89B2B"/>
          </a:solidFill>
          <a:ln w="12700">
            <a:solidFill>
              <a:srgbClr val="D89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8039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06256" y="3611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B57"/>
                </a:solidFill>
              </a:rPr>
              <a:t>Predict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906256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Regression test-set check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</a:rPr>
              <a:t>Management question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80360" y="55229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Which fuel receipt segments explain cost exposure and can they improve prediction of fuel_cost_per_mmbtu?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The number of clusters is selected using elbow/silhouette diagnostics plus interpretability.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5448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55448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77240" y="51389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57"/>
                </a:solidFill>
              </a:rPr>
              <a:t>Selected solution: 4 clusters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04672" y="56052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The Rmd computes the actual elbow and silhouette values on the sampled training set. Four clusters are used for a readable management segmentation.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Segmentation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Clusters are built from operational receipt features, then profiled by cost and context.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8C"/>
                </a:solidFill>
              </a:rPr>
              <a:t>Used to form clusters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3749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log fuel received units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fuel MMBtu per unit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log fuel received MMBtu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9224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9B2B"/>
                </a:solidFill>
              </a:rPr>
              <a:t>Reserved for profiling/prediction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160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fuel cost per MMBtu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total fuel cost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fuel type, state, cost source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57800" y="2176272"/>
            <a:ext cx="1280160" cy="502920"/>
          </a:xfrm>
          <a:prstGeom prst="rightArrow">
            <a:avLst/>
          </a:prstGeom>
          <a:solidFill>
            <a:srgbClr val="D7EBF2"/>
          </a:solidFill>
          <a:ln w="12700">
            <a:solidFill>
              <a:srgbClr val="D7E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7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443484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Avoiding fuel_cost_per_mmbtu in the clustering variables keeps the extra-credit regression from becoming circular. Costs are used after clustering to interpret whether segments carry different cost exposure.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Management-ready cluster labels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The exact cluster profiles are generated by the R Markdown after the PUDL sample is drawn.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35640" cy="438912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270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Segment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29000" y="15270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 meaning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0" y="152704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Management 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901952"/>
            <a:ext cx="10835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3B57"/>
                </a:solidFill>
              </a:rPr>
              <a:t>Large-volume thermal receipts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429000" y="20116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High delivery scale and bulk heat input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315200" y="20116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Monitor supply reliability and contract concentration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58368" y="2596896"/>
            <a:ext cx="10835640" cy="594360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249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3B57"/>
                </a:solidFill>
              </a:rPr>
              <a:t>Low-cost routine receipts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429000" y="27066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Standard lower-cost procurement patterns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7315200" y="270662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Benchmark normal operating conditions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58368" y="3291840"/>
            <a:ext cx="10835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19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3B57"/>
                </a:solidFill>
              </a:rPr>
              <a:t>High-heat-content receipts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429000" y="34015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Higher energy per physical unit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315200" y="34015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Review fuel quality and efficiency implications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58368" y="3986784"/>
            <a:ext cx="10835640" cy="594360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3B57"/>
                </a:solidFill>
              </a:rPr>
              <a:t>High-cost specialty or peaking receipts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429000" y="40965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Higher cost exposure or specialized activity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315200" y="409651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</a:rPr>
              <a:t>Target for risk review and cost controls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49808" y="5074920"/>
            <a:ext cx="10378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R Markdown output to update: cluster sizes, median fuel cost, top fuel type, top state, and top source.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credit: prediction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Does segmentation improve prediction of fuel_cost_per_mmbtu?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EEF7FA"/>
          </a:solidFill>
          <a:ln w="12700">
            <a:solidFill>
              <a:srgbClr val="D7E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57"/>
                </a:solidFill>
              </a:rPr>
              <a:t>Base regression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Receipt scale + heat content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5544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DF8ED"/>
          </a:solidFill>
          <a:ln w="12700">
            <a:solidFill>
              <a:srgbClr val="F2DB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57"/>
                </a:solidFill>
              </a:rPr>
              <a:t>Cluster regression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76288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Base predictors + cluster label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2148840"/>
            <a:ext cx="960120" cy="502920"/>
          </a:xfrm>
          <a:prstGeom prst="rightArrow">
            <a:avLst/>
          </a:prstGeom>
          <a:solidFill>
            <a:srgbClr val="1E8C8C"/>
          </a:solidFill>
          <a:ln w="12700">
            <a:solidFill>
              <a:srgbClr val="1E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C8C"/>
                </a:solidFill>
              </a:rPr>
              <a:t>Decision rule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</a:rPr>
              <a:t>Use the cluster-enhanced model only if it lowers test-set RMSE/MAE. That makes the segmentation actionable rather than just descriptive.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Translate clusters into management action.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6692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Separate routine fuel buying from high-cost or specialty fuel activity.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Review high-cost segments first for procurement and price-volatility risk.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Use large-volume clusters to monitor supply reliability and contract concentration.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Track segment movement over time as fuel markets and plant operations change.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9516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57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40880" y="1938528"/>
            <a:ext cx="42062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</a:rPr>
              <a:t>Some PUDL values are estimated or redacted.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</a:rPr>
              <a:t>Delivery timing is not the same as consumption timing.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</a:rPr>
              <a:t>The model is exploratory and based on a 2% sample.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34924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57"/>
                </a:solidFill>
              </a:rPr>
              <a:t>Bottom line: segmentation gives a clearer operating lens for U.S. fuel procurement and can be tested as a predictor of fuel cost.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package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Files included for final turn-in and reproducibility.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EE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627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8C"/>
                </a:solidFill>
              </a:rPr>
              <a:t>R Markdown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63240" y="1581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7"/>
                </a:solidFill>
              </a:rPr>
              <a:t>final_exam_analysis.Rmd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618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Downloads data, cleans it, runs clustering/regression, and generates charts.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DF8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53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9B2B"/>
                </a:solidFill>
              </a:rPr>
              <a:t>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2907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7"/>
                </a:solidFill>
              </a:rPr>
              <a:t>final_exam_report.docx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9443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Executive-facing write-up with summary, methodology, findings, and recommendations.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2793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7"/>
                </a:solidFill>
              </a:rPr>
              <a:t>Presentation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4233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7"/>
                </a:solidFill>
              </a:rPr>
              <a:t>final_exam_presentation.pptx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4270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Short management presentation for class delivery.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473D"/>
                </a:solidFill>
              </a:rPr>
              <a:t>Before submission: knit the Rmd to HTML so the latest PUDL data, tables, and figures are generated.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3738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Kent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Receipt Segmentation and Cost Prediction</dc:title>
  <dc:subject>MIS 64060 Final Exam</dc:subject>
  <dc:creator>Steve Lamber</dc:creator>
  <cp:lastModifiedBy>Steve Lamber</cp:lastModifiedBy>
  <cp:revision>1</cp:revision>
  <dcterms:created xsi:type="dcterms:W3CDTF">2026-06-19T13:47:30Z</dcterms:created>
  <dcterms:modified xsi:type="dcterms:W3CDTF">2026-06-19T13:47:30Z</dcterms:modified>
</cp:coreProperties>
</file>